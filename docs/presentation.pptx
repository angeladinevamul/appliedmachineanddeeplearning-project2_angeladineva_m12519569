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A8BD"/>
    <a:srgbClr val="549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01" y="-52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4384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Predictive maintenance of bearing shells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3581400"/>
            <a:ext cx="6400800" cy="2590800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Univ.-Prof. </a:t>
            </a:r>
            <a:r>
              <a:rPr lang="en-US" sz="2000" noProof="1" smtClean="0">
                <a:solidFill>
                  <a:schemeClr val="tx1"/>
                </a:solidFill>
              </a:rPr>
              <a:t>Dr. Elmar Rueckert</a:t>
            </a:r>
          </a:p>
          <a:p>
            <a:r>
              <a:rPr lang="en-US" sz="2000" noProof="1" smtClean="0">
                <a:solidFill>
                  <a:schemeClr val="tx1"/>
                </a:solidFill>
              </a:rPr>
              <a:t>  M.Sc. Linus Nwankwo</a:t>
            </a:r>
          </a:p>
          <a:p>
            <a:endParaRPr lang="en-US" sz="2000" noProof="1" smtClean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January, 2026</a:t>
            </a:r>
          </a:p>
          <a:p>
            <a:endParaRPr lang="en-US" sz="2000" dirty="0">
              <a:solidFill>
                <a:srgbClr val="549BBE"/>
              </a:solidFill>
            </a:endParaRPr>
          </a:p>
          <a:p>
            <a:r>
              <a:rPr lang="en-US" sz="2000" dirty="0" smtClean="0">
                <a:solidFill>
                  <a:srgbClr val="549BBE"/>
                </a:solidFill>
              </a:rPr>
              <a:t>Chair </a:t>
            </a:r>
            <a:r>
              <a:rPr lang="en-US" sz="2000" dirty="0">
                <a:solidFill>
                  <a:srgbClr val="549BBE"/>
                </a:solidFill>
              </a:rPr>
              <a:t>of Cyber-Physical-Systems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279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 descr="Study at the Technical University - Bachelor, Master, Doctora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52400"/>
            <a:ext cx="3663026" cy="65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56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00200"/>
            <a:ext cx="7391400" cy="4525963"/>
          </a:xfrm>
        </p:spPr>
        <p:txBody>
          <a:bodyPr/>
          <a:lstStyle/>
          <a:p>
            <a:pPr algn="just"/>
            <a:r>
              <a:rPr lang="en-US" dirty="0"/>
              <a:t>Journal bearing failures cause high maintenance costs and downtime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Friction </a:t>
            </a:r>
            <a:r>
              <a:rPr lang="en-US" dirty="0"/>
              <a:t>behavior is a key indicator of bearing condition, but it is difficult to model due to noisy and interacting sensor signals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Machine learning can help capture these relationships.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279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7438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846" y="228600"/>
            <a:ext cx="8229600" cy="1143000"/>
          </a:xfrm>
        </p:spPr>
        <p:txBody>
          <a:bodyPr/>
          <a:lstStyle/>
          <a:p>
            <a:r>
              <a:rPr lang="en-US" dirty="0" smtClean="0"/>
              <a:t>Research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447800"/>
            <a:ext cx="7467600" cy="4525963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Can </a:t>
            </a:r>
            <a:r>
              <a:rPr lang="en-US" dirty="0"/>
              <a:t>machine learning models predict the coefficient of friction from sensor data, and which model performs better?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508" y="0"/>
            <a:ext cx="1244708" cy="6868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3685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and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676400"/>
            <a:ext cx="7239000" cy="44497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 smtClean="0"/>
              <a:t>Dataset - Journal </a:t>
            </a:r>
            <a:r>
              <a:rPr lang="en-US" dirty="0"/>
              <a:t>Bearing Adapter </a:t>
            </a:r>
            <a:r>
              <a:rPr lang="en-US" dirty="0" smtClean="0"/>
              <a:t>experiments.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/>
              <a:t>M</a:t>
            </a:r>
            <a:r>
              <a:rPr lang="en-US" dirty="0" smtClean="0"/>
              <a:t>easurements: </a:t>
            </a:r>
            <a:r>
              <a:rPr lang="en-US" dirty="0"/>
              <a:t>torque, load, speed, temperature, and acoustic </a:t>
            </a:r>
            <a:r>
              <a:rPr lang="en-US" dirty="0" smtClean="0"/>
              <a:t>emission.</a:t>
            </a:r>
          </a:p>
          <a:p>
            <a:pPr marL="0" indent="0" algn="just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Task - regression </a:t>
            </a:r>
            <a:r>
              <a:rPr lang="en-US" dirty="0"/>
              <a:t>problem with the coefficient of friction as the target variable.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7148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8232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600200"/>
            <a:ext cx="7162800" cy="4525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The data was preprocessed and normalized, and physically motivated features were engineered.</a:t>
            </a:r>
            <a:br>
              <a:rPr lang="en-US" dirty="0"/>
            </a:br>
            <a:r>
              <a:rPr lang="en-US" dirty="0"/>
              <a:t>Two regression models were trained and compared:</a:t>
            </a:r>
          </a:p>
          <a:p>
            <a:pPr algn="just"/>
            <a:r>
              <a:rPr lang="en-US" dirty="0"/>
              <a:t>Random Forest</a:t>
            </a:r>
          </a:p>
          <a:p>
            <a:pPr algn="just"/>
            <a:r>
              <a:rPr lang="en-US" dirty="0"/>
              <a:t>MLP</a:t>
            </a:r>
          </a:p>
          <a:p>
            <a:pPr algn="just"/>
            <a:r>
              <a:rPr lang="en-US" dirty="0"/>
              <a:t>Model performance was evaluated using RMSE, MAE, and R².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279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9053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170" y="32951"/>
            <a:ext cx="8229600" cy="1143000"/>
          </a:xfrm>
        </p:spPr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066800"/>
            <a:ext cx="73914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i="1" dirty="0" smtClean="0"/>
              <a:t>Random </a:t>
            </a:r>
            <a:r>
              <a:rPr lang="en-US" i="1" dirty="0"/>
              <a:t>Forest </a:t>
            </a:r>
            <a:r>
              <a:rPr lang="en-US" dirty="0"/>
              <a:t>model </a:t>
            </a:r>
            <a:r>
              <a:rPr lang="en-US" dirty="0" smtClean="0"/>
              <a:t>- very </a:t>
            </a:r>
            <a:r>
              <a:rPr lang="en-US" dirty="0"/>
              <a:t>high accuracy on the test set (R² ≈ 0.99997).</a:t>
            </a:r>
            <a:br>
              <a:rPr lang="en-US" dirty="0"/>
            </a:br>
            <a:r>
              <a:rPr lang="en-US" i="1" dirty="0" smtClean="0"/>
              <a:t>MLP</a:t>
            </a:r>
            <a:r>
              <a:rPr lang="en-US" dirty="0" smtClean="0"/>
              <a:t> </a:t>
            </a:r>
            <a:r>
              <a:rPr lang="en-US" dirty="0"/>
              <a:t>model </a:t>
            </a:r>
            <a:r>
              <a:rPr lang="en-US" dirty="0" smtClean="0"/>
              <a:t>- poor </a:t>
            </a:r>
            <a:r>
              <a:rPr lang="en-US" dirty="0"/>
              <a:t>generalization with negative R².</a:t>
            </a:r>
            <a:br>
              <a:rPr lang="en-US" dirty="0"/>
            </a:br>
            <a:r>
              <a:rPr lang="en-US" dirty="0"/>
              <a:t>Feature importance analysis showed torque as the dominant predictor, which matches physical expectations.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279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5" t="24116" r="19325" b="31750"/>
          <a:stretch/>
        </p:blipFill>
        <p:spPr bwMode="auto">
          <a:xfrm>
            <a:off x="1342663" y="5241340"/>
            <a:ext cx="5185823" cy="1237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393092" y="6337581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Model performance on test dataset</a:t>
            </a:r>
            <a:endParaRPr lang="en-US" dirty="0"/>
          </a:p>
        </p:txBody>
      </p:sp>
      <p:sp>
        <p:nvSpPr>
          <p:cNvPr id="5" name="Cloud Callout 4"/>
          <p:cNvSpPr/>
          <p:nvPr/>
        </p:nvSpPr>
        <p:spPr>
          <a:xfrm>
            <a:off x="6400800" y="4038600"/>
            <a:ext cx="2489886" cy="1600200"/>
          </a:xfrm>
          <a:prstGeom prst="cloudCallout">
            <a:avLst/>
          </a:prstGeom>
          <a:solidFill>
            <a:srgbClr val="51A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Random Forest clearly outperforms MLP on all metrics</a:t>
            </a:r>
            <a:r>
              <a:rPr lang="en-US" sz="1400" dirty="0" smtClean="0">
                <a:solidFill>
                  <a:schemeClr val="tx1"/>
                </a:solidFill>
              </a:rPr>
              <a:t>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474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86000"/>
            <a:ext cx="7174706" cy="3461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301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71800" y="5848868"/>
            <a:ext cx="5562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Forest: Predicted </a:t>
            </a:r>
            <a:r>
              <a:rPr lang="en-US" noProof="1" smtClean="0"/>
              <a:t>vs</a:t>
            </a:r>
            <a:r>
              <a:rPr lang="en-US" dirty="0" smtClean="0"/>
              <a:t> </a:t>
            </a:r>
            <a:r>
              <a:rPr lang="en-US" dirty="0"/>
              <a:t>Actual COF</a:t>
            </a:r>
          </a:p>
        </p:txBody>
      </p:sp>
      <p:sp>
        <p:nvSpPr>
          <p:cNvPr id="8" name="Cloud Callout 7"/>
          <p:cNvSpPr/>
          <p:nvPr/>
        </p:nvSpPr>
        <p:spPr>
          <a:xfrm>
            <a:off x="6400800" y="152400"/>
            <a:ext cx="2590800" cy="1903971"/>
          </a:xfrm>
          <a:prstGeom prst="cloudCallout">
            <a:avLst/>
          </a:prstGeom>
          <a:solidFill>
            <a:srgbClr val="51A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predictions match the actual values, indicating very high </a:t>
            </a:r>
            <a:r>
              <a:rPr lang="en-US" dirty="0" smtClean="0">
                <a:solidFill>
                  <a:schemeClr val="tx1"/>
                </a:solidFill>
              </a:rPr>
              <a:t>accuracy.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28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600200"/>
            <a:ext cx="71628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Random Forest is well suited for friction prediction in this dataset.</a:t>
            </a:r>
            <a:br>
              <a:rPr lang="en-US" dirty="0"/>
            </a:br>
            <a:r>
              <a:rPr lang="en-US" dirty="0"/>
              <a:t>Direct bearing failure prediction was not possible due to limited wear variability, but accurate friction prediction is a meaningful step toward predictive maintenance.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279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405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533400"/>
            <a:ext cx="7162800" cy="4525963"/>
          </a:xfrm>
        </p:spPr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6000" dirty="0" smtClean="0"/>
              <a:t>Thank You for the Attention!</a:t>
            </a:r>
            <a:endParaRPr lang="en-US" sz="6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279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562600" y="5410200"/>
            <a:ext cx="3268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Student, Dipl</a:t>
            </a:r>
            <a:r>
              <a:rPr lang="en-US" dirty="0" smtClean="0"/>
              <a:t>.-</a:t>
            </a:r>
            <a:r>
              <a:rPr lang="en-US" noProof="1" smtClean="0"/>
              <a:t>Ing. Angela Dineva</a:t>
            </a: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70884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206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Predictive maintenance of bearing shells  </vt:lpstr>
      <vt:lpstr>Motivation</vt:lpstr>
      <vt:lpstr>Research Question</vt:lpstr>
      <vt:lpstr>Data and Problem</vt:lpstr>
      <vt:lpstr>Method</vt:lpstr>
      <vt:lpstr>Results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of bearing shells</dc:title>
  <dc:creator>User</dc:creator>
  <cp:lastModifiedBy>User</cp:lastModifiedBy>
  <cp:revision>9</cp:revision>
  <dcterms:created xsi:type="dcterms:W3CDTF">2006-08-16T00:00:00Z</dcterms:created>
  <dcterms:modified xsi:type="dcterms:W3CDTF">2025-12-31T01:39:11Z</dcterms:modified>
</cp:coreProperties>
</file>